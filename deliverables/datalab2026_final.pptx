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9735b140a24c95" /><Relationship Type="http://schemas.openxmlformats.org/officeDocument/2006/relationships/extended-properties" Target="/docProps/app.xml" Id="Rfb26d43de6d64f3d" /><Relationship Type="http://schemas.openxmlformats.org/officeDocument/2006/relationships/officeDocument" Target="/ppt/presentation.xml" Id="Rdae99d820c2c4b2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f2daa5e9464fce"/>
  </p:sldMasterIdLst>
  <p:notesMasterIdLst>
    <p:notesMasterId xmlns:r="http://schemas.openxmlformats.org/officeDocument/2006/relationships" r:id="R71c6af7e8e2e47f5"/>
  </p:notesMasterIdLst>
  <p:sldIdLst>
    <p:sldId xmlns:r="http://schemas.openxmlformats.org/officeDocument/2006/relationships" id="256" r:id="Rb4c737c6761f42e2"/>
    <p:sldId xmlns:r="http://schemas.openxmlformats.org/officeDocument/2006/relationships" id="257" r:id="R9e0b22c2efa14fd4"/>
    <p:sldId xmlns:r="http://schemas.openxmlformats.org/officeDocument/2006/relationships" id="258" r:id="Rec81bf6a2edf449d"/>
    <p:sldId xmlns:r="http://schemas.openxmlformats.org/officeDocument/2006/relationships" id="259" r:id="R8610b17df92d4406"/>
    <p:sldId xmlns:r="http://schemas.openxmlformats.org/officeDocument/2006/relationships" id="260" r:id="R63223ba05241464a"/>
    <p:sldId xmlns:r="http://schemas.openxmlformats.org/officeDocument/2006/relationships" id="261" r:id="R45253a570fa44780"/>
    <p:sldId xmlns:r="http://schemas.openxmlformats.org/officeDocument/2006/relationships" id="262" r:id="Rf10d4308888b46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f2937cd8a245f9" /><Relationship Type="http://schemas.openxmlformats.org/officeDocument/2006/relationships/slideMaster" Target="/ppt/slideMasters/slideMaster1.xml" Id="Rdff2daa5e9464fce" /><Relationship Type="http://schemas.openxmlformats.org/officeDocument/2006/relationships/notesMaster" Target="/ppt/notesMasters/notesMaster1.xml" Id="R71c6af7e8e2e47f5" /><Relationship Type="http://schemas.openxmlformats.org/officeDocument/2006/relationships/presProps" Target="/ppt/presProps.xml" Id="Raf21686910cf4111" /><Relationship Type="http://schemas.openxmlformats.org/officeDocument/2006/relationships/tableStyles" Target="/ppt/tableStyles.xml" Id="Rf687ce0b207f4573" /><Relationship Type="http://schemas.openxmlformats.org/officeDocument/2006/relationships/slide" Target="/ppt/slides/slide1.xml" Id="Rb4c737c6761f42e2" /><Relationship Type="http://schemas.openxmlformats.org/officeDocument/2006/relationships/slide" Target="/ppt/slides/slide2.xml" Id="R9e0b22c2efa14fd4" /><Relationship Type="http://schemas.openxmlformats.org/officeDocument/2006/relationships/slide" Target="/ppt/slides/slide3.xml" Id="Rec81bf6a2edf449d" /><Relationship Type="http://schemas.openxmlformats.org/officeDocument/2006/relationships/slide" Target="/ppt/slides/slide4.xml" Id="R8610b17df92d4406" /><Relationship Type="http://schemas.openxmlformats.org/officeDocument/2006/relationships/slide" Target="/ppt/slides/slide5.xml" Id="R63223ba05241464a" /><Relationship Type="http://schemas.openxmlformats.org/officeDocument/2006/relationships/slide" Target="/ppt/slides/slide6.xml" Id="R45253a570fa44780" /><Relationship Type="http://schemas.openxmlformats.org/officeDocument/2006/relationships/slide" Target="/ppt/slides/slide7.xml" Id="Rf10d4308888b46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96709f573740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9a3b3f50f14097" /><Relationship Type="http://schemas.openxmlformats.org/officeDocument/2006/relationships/notesMaster" Target="/ppt/notesMasters/notesMaster1.xml" Id="Re538cdd33dc648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b155c34c6e46b3" /><Relationship Type="http://schemas.openxmlformats.org/officeDocument/2006/relationships/notesMaster" Target="/ppt/notesMasters/notesMaster1.xml" Id="Rc1fbe64fb5284a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0698c1289147e8" /><Relationship Type="http://schemas.openxmlformats.org/officeDocument/2006/relationships/notesMaster" Target="/ppt/notesMasters/notesMaster1.xml" Id="R470a875b2fea4a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068e61201d4ee7" /><Relationship Type="http://schemas.openxmlformats.org/officeDocument/2006/relationships/notesMaster" Target="/ppt/notesMasters/notesMaster1.xml" Id="R3f1f38039e1942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cab34ec2f24901" /><Relationship Type="http://schemas.openxmlformats.org/officeDocument/2006/relationships/notesMaster" Target="/ppt/notesMasters/notesMaster1.xml" Id="R5dd832886acf48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1f37703d194af8" /><Relationship Type="http://schemas.openxmlformats.org/officeDocument/2006/relationships/notesMaster" Target="/ppt/notesMasters/notesMaster1.xml" Id="R193a7f8bd3824b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35c1e0cebd46ae" /><Relationship Type="http://schemas.openxmlformats.org/officeDocument/2006/relationships/notesMaster" Target="/ppt/notesMasters/notesMaster1.xml" Id="Raa96db8836c446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bits.c, test.py, report/test-results.txt. Student identity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report/test-results.txt and report/verify.c. The score chart uses the official test.py ratings and all 12 functions pass.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bits.c and README.md. The three groups summarize the implemented functions and their core techniques.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bits.c. The code snippets are shortened representations of the implemented expressions; the complete editable source remains in bits.c.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bits.c and tests.c. The field diagram uses the IEEE 754 single-precision layout required by the lab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report/test-results.txt and test.py. Operation counts are produced by the official legality analyzer. The conclusion distinguishes passing the rubric from a formal proof of global minimum operation 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repository files bits.c, report/report.md, report/report.pdf, report/test-results.txt, report/verify.c. The OBE submission and Git push remain user-controlled external actions.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ce2af1cb14d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56c3dee4824303" /><Relationship Type="http://schemas.openxmlformats.org/officeDocument/2006/relationships/slideLayout" Target="/ppt/slideLayouts/slideLayout1.xml" Id="R2573ea96a64a4a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73ea96a64a4a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ec384a31046da" /><Relationship Type="http://schemas.openxmlformats.org/officeDocument/2006/relationships/notesSlide" Target="/ppt/notesSlides/notesSlide1.xml" Id="Re78744aeb21240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8823e0f5d4220" /><Relationship Type="http://schemas.openxmlformats.org/officeDocument/2006/relationships/chart" Target="/ppt/slides/charts/chart1.xml" Id="R77fb1c9c40794689" /><Relationship Type="http://schemas.openxmlformats.org/officeDocument/2006/relationships/notesSlide" Target="/ppt/notesSlides/notesSlide2.xml" Id="Ra16c9899266743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bc72b26e149c3" /><Relationship Type="http://schemas.openxmlformats.org/officeDocument/2006/relationships/notesSlide" Target="/ppt/notesSlides/notesSlide3.xml" Id="R64875f3586774e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70a9786a47426d" /><Relationship Type="http://schemas.openxmlformats.org/officeDocument/2006/relationships/notesSlide" Target="/ppt/notesSlides/notesSlide4.xml" Id="Refebb361932e45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9feb801f444fc" /><Relationship Type="http://schemas.openxmlformats.org/officeDocument/2006/relationships/notesSlide" Target="/ppt/notesSlides/notesSlide5.xml" Id="Rdea745329a2440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255c85f204a72" /><Relationship Type="http://schemas.openxmlformats.org/officeDocument/2006/relationships/notesSlide" Target="/ppt/notesSlides/notesSlide6.xml" Id="Rf1276b75bbeb43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08d39b3594f63" /><Relationship Type="http://schemas.openxmlformats.org/officeDocument/2006/relationships/notesSlide" Target="/ppt/notesSlides/notesSlide7.xml" Id="R6445a9dfee5d401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得分</c:v>
          </c:tx>
          <c:spPr>
            <a:solidFill xmlns:a="http://schemas.openxmlformats.org/drawingml/2006/main">
              <a:srgbClr val="16B8A6"/>
            </a:solidFill>
          </c:spPr>
          <c:cat>
            <c:strRef>
              <c:f>'Chart Data'!$A$2:$A$13</c:f>
              <c:strCache>
                <c:ptCount val="12"/>
                <c:pt idx="0">
                  <c:v>bitAnd</c:v>
                </c:pt>
                <c:pt idx="1">
                  <c:v>bitXor</c:v>
                </c:pt>
                <c:pt idx="2">
                  <c:v>samesign</c:v>
                </c:pt>
                <c:pt idx="3">
                  <c:v>logtwo</c:v>
                </c:pt>
                <c:pt idx="4">
                  <c:v>byteSwap</c:v>
                </c:pt>
                <c:pt idx="5">
                  <c:v>reverse</c:v>
                </c:pt>
                <c:pt idx="6">
                  <c:v>logicalShift</c:v>
                </c:pt>
                <c:pt idx="7">
                  <c:v>leftBitCount</c:v>
                </c:pt>
                <c:pt idx="8">
                  <c:v>float_i2f</c:v>
                </c:pt>
                <c:pt idx="9">
                  <c:v>floatScale2</c:v>
                </c:pt>
                <c:pt idx="10">
                  <c:v>float64_f2i</c:v>
                </c:pt>
                <c:pt idx="11">
                  <c:v>floatPower2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4</c:v>
                </c:pt>
                <c:pt idx="5">
                  <c:v>3</c:v>
                </c:pt>
                <c:pt idx="6">
                  <c:v>3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  <c:pt idx="10">
                  <c:v>3</c:v>
                </c:pt>
                <c:pt idx="11">
                  <c:v>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033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</c:spPr>
    </c:plotArea>
    <c:plotVisOnly val="1"/>
  </c:chart>
  <c:spPr>
    <a:solidFill xmlns:a="http://schemas.openxmlformats.org/drawingml/2006/main">
      <a:srgbClr val="F7F9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0D96A-A798-42DC-A5C4-5B8744E9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B9DEC-89B4-4C7C-AE7C-E5822C24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0"/>
            <a:ext cx="257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47CF8-E677-49D7-A25A-5C659B8E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BE4D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BE4D4"/>
                </a:solidFill>
                <a:latin typeface="PingFang SC"/>
                <a:ea typeface="PingFang SC"/>
                <a:cs typeface="PingFang SC"/>
              </a:rPr>
              <a:t>RUC DATALAB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E59BA4-F943-4D20-830B-D64F093C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04950"/>
            <a:ext cx="723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位级运算与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IEEE 754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139D6-8E63-4BCE-8FF5-290FC1F2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C4D3E0"/>
                </a:solidFill>
                <a:latin typeface="PingFang SC"/>
                <a:ea typeface="PingFang SC"/>
                <a:cs typeface="PingFang SC"/>
              </a:rPr>
              <a:t>实验完成报告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3625-EC52-4241-A278-FB53912B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B8A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3051A-2B65-4ED0-9871-F9E4E3A6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匿名  ·  不公开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B54F8-4CDC-4FAE-968F-115926CF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333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BE4D4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6BE4D4"/>
                </a:solidFill>
                <a:latin typeface="PingFang SC"/>
                <a:ea typeface="PingFang SC"/>
                <a:cs typeface="PingFang SC"/>
              </a:rPr>
              <a:t>37 / 37 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0ED0F-6C7C-4F48-9C29-2493E934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8C8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8C8D8"/>
                </a:solidFill>
                <a:latin typeface="PingFang SC"/>
                <a:ea typeface="PingFang SC"/>
                <a:cs typeface="PingFang SC"/>
              </a:rPr>
              <a:t>本地复测 2026-09-22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404FD-B133-4657-A8C6-55903FC6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524000"/>
            <a:ext cx="171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C9B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AC9BD"/>
                </a:solidFill>
                <a:latin typeface="PingFang SC"/>
                <a:ea typeface="PingFang SC"/>
                <a:cs typeface="PingFang SC"/>
              </a:rPr>
              <a:t>0101  0011  1010</a:t>
            </a:r>
          </a:p>
          <a:p xmlns:a="http://schemas.openxmlformats.org/drawingml/2006/main">
            <a:pPr algn="l">
              <a:defRPr sz="1425" b="0">
                <a:solidFill>
                  <a:srgbClr val="5AC9BD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AC9BD"/>
                </a:solidFill>
                <a:latin typeface="PingFang SC"/>
                <a:ea typeface="PingFang SC"/>
                <a:cs typeface="PingFang SC"/>
              </a:rPr>
              <a:t>0110  1100  0001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87FF2E-F806-4E6F-B177-AE2BFCE6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334000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bit-level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reasoning</a:t>
            </a:r>
          </a:p>
        </p:txBody>
      </p:sp>
    </p:spTree>
    <p:extLst>
      <p:ext uri="{BB962C8B-B14F-4D97-AF65-F5344CB8AC3E}">
        <p14:creationId xmlns:p14="http://schemas.microsoft.com/office/powerpoint/2010/main" val="795917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C1C20C-C23B-4B55-A342-E6B68236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01  完成度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EA44C-FF0C-41BE-BEB6-67BC0C49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12 个函数全部通过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FE7FB-26D9-4349-A239-62DF8A8D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正确性、操作符合规性和边界检查均已通过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1EA174-3247-46B5-AD9B-26EBE681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5717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1B33"/>
          </a:solidFill>
          <a:ln xmlns:a="http://schemas.openxmlformats.org/drawingml/2006/main" w="9525">
            <a:solidFill>
              <a:srgbClr val="0B1B3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F5BAD-FA9D-4103-8425-08148834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37 /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BA6A5B-1966-4080-A6D6-0BBAEEE9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C8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8C8D8"/>
                </a:solidFill>
                <a:latin typeface="PingFang SC"/>
                <a:ea typeface="PingFang SC"/>
                <a:cs typeface="PingFang SC"/>
              </a:rPr>
              <a:t>评分脚本总分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3524250" y="1771650"/>
          <a:ext xmlns:a="http://schemas.openxmlformats.org/drawingml/2006/main" cx="6572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fb1c9c4079468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017C4-6454-4985-B056-6E4ABDB7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809750"/>
            <a:ext cx="12382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E8F8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8C37F-BC0B-4A12-B2E7-66E10701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193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8E8C6-B686-402C-9107-AB2A6CF9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5717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函数完成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C9026-5886-4849-B9A4-63DCAC35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00400"/>
            <a:ext cx="12382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9525">
            <a:solidFill>
              <a:srgbClr val="EAF2F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0CCDB-466B-403C-9BC4-619CC521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09950"/>
            <a:ext cx="104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A7BD5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3A7BD5"/>
                </a:solidFill>
                <a:latin typeface="PingFang SC"/>
                <a:ea typeface="PingFang SC"/>
                <a:cs typeface="PingFang SC"/>
              </a:rPr>
              <a:t>12.0M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94504B-E019-47AB-8C53-B7352300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98145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独立检查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4A7F6-29E5-4A9E-A757-F3880069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91050"/>
            <a:ext cx="12382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9525">
            <a:solidFill>
              <a:srgbClr val="FFF3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4A108-9D3B-4009-954C-A16400B6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006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4A261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4A261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294B48-AB64-4FAC-B0FC-615E002D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37210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UBSan 报错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7FF8F-E061-42FA-A833-707419D7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DataLab 2026  ·  匿名  ·  不公开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44F482-A698-4DC5-A998-E8CF53D4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64989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D7D908-612D-4A7F-AC4F-88FA8DA6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02  算法架构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C8290-4001-4255-9D17-8A95E681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固定路径表达位级语义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7D8E8-8C18-47B2-BB7A-4ECBAAF9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整数题压缩分支，浮点题拆解字段，所有结果保持可复现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C71DF8-8A12-4749-B0AC-1BE44DAF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1200"/>
            <a:ext cx="2952750" cy="342900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9525">
            <a:solidFill>
              <a:srgbClr val="EAF2F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94FFD-45BC-437F-BF18-19369E7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A7BD5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3A7BD5"/>
                </a:solidFill>
                <a:latin typeface="PingFang SC"/>
                <a:ea typeface="PingFang SC"/>
                <a:cs typeface="PingFang SC"/>
              </a:rPr>
              <a:t>整数基础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6C958-B140-478A-A039-85D67695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A7B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6731D3-7B4D-4ECD-81D5-B142E639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bitAnd</a:t>
            </a:r>
          </a:p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bitXor</a:t>
            </a:r>
          </a:p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samesign</a:t>
            </a:r>
          </a:p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logtwo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B7540-28A4-457F-944C-3EA46A2C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德摩根定律</a:t>
            </a:r>
          </a:p>
          <a:p xmlns:a="http://schemas.openxmlformats.org/drawingml/2006/main">
            <a:pPr algn="l">
              <a:def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符号位与零值</a:t>
            </a:r>
          </a:p>
          <a:p xmlns:a="http://schemas.openxmlformats.org/drawingml/2006/main">
            <a:pPr algn="l">
              <a:def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分段最高位查找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5AAA4-81D0-4FA3-9979-1CA88CAA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81200"/>
            <a:ext cx="2952750" cy="342900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E8F8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F90134-BF6C-4426-96F1-C50A0EC7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位模式变换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7A0E0-74E0-4C4C-B550-D43E2D37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241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F5904E-ADA7-4037-977B-5D432AD5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908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byteSwap</a:t>
            </a:r>
          </a:p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reverse</a:t>
            </a:r>
          </a:p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logicalShift</a:t>
            </a:r>
          </a:p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leftBitCount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5988A6-6914-497C-8DB5-BEE641AA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495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异或交换</a:t>
            </a:r>
          </a:p>
          <a:p xmlns:a="http://schemas.openxmlformats.org/drawingml/2006/main">
            <a:pPr algn="l">
              <a:def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分组互换</a:t>
            </a:r>
          </a:p>
          <a:p xmlns:a="http://schemas.openxmlformats.org/drawingml/2006/main">
            <a:pPr algn="l">
              <a:def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掩码去扩展</a:t>
            </a:r>
          </a:p>
          <a:p xmlns:a="http://schemas.openxmlformats.org/drawingml/2006/main">
            <a:pPr algn="l">
              <a:def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前导位二分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523AD-098A-4D7A-A25B-DC03AD6F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81200"/>
            <a:ext cx="2952750" cy="342900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9525">
            <a:solidFill>
              <a:srgbClr val="FFF3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D03EB9-CCDD-4603-A5FD-57FBA75A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66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A261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4A261"/>
                </a:solidFill>
                <a:latin typeface="PingFang SC"/>
                <a:ea typeface="PingFang SC"/>
                <a:cs typeface="PingFang SC"/>
              </a:rPr>
              <a:t>IEEE 754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A0843B-6427-4CBB-B050-E4129DF2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24150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4A26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5A16B8-77EE-48E7-831E-F8321D3B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238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float_i2f</a:t>
            </a:r>
          </a:p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floatScale2</a:t>
            </a:r>
          </a:p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float64_f2i</a:t>
            </a:r>
          </a:p>
          <a:p xmlns:a="http://schemas.openxmlformats.org/drawingml/2006/main">
            <a:pPr algn="l">
              <a:def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floatPower2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AA49A-16EE-4784-BE23-E47345DB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958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舍入与进位</a:t>
            </a:r>
          </a:p>
          <a:p xmlns:a="http://schemas.openxmlformats.org/drawingml/2006/main">
            <a:pPr algn="l">
              <a:def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规格化边界</a:t>
            </a:r>
          </a:p>
          <a:p xmlns:a="http://schemas.openxmlformats.org/drawingml/2006/main">
            <a:pPr algn="l">
              <a:def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截断与溢出</a:t>
            </a:r>
          </a:p>
          <a:p xmlns:a="http://schemas.openxmlformats.org/drawingml/2006/main">
            <a:pPr algn="l">
              <a:def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非规格化数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C3320-33B4-4E82-866C-CE5A5E07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10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统一约束：只使用题目允许的运算符、变量类型与控制流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49652E-0DB4-4D39-B3AC-0EBEBFB9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DataLab 2026  ·  匿名  ·  不公开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F8D21-7761-458B-BE6A-893FD61D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1865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6D04B7-0D5F-4169-ABB5-C13ACC1E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03  整数题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13574-5AE7-4334-8C0B-606A5193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把高层判断压缩成位运算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B19C7-E424-43BC-8088-03A3946B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每个函数都用固定路径覆盖边界输入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3D896-A69C-4BB8-8CEB-B7658C4A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85950"/>
            <a:ext cx="10858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262BF9-F751-4147-9075-F8C38331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240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A7BD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A7BD5"/>
                </a:solidFill>
                <a:latin typeface="PingFang SC"/>
                <a:ea typeface="PingFang SC"/>
                <a:cs typeface="PingFang SC"/>
              </a:rPr>
              <a:t>samesign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B26520-1809-4213-BEF5-F847FE58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95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!((x ^ y) &gt;&gt; 31) &amp; !(!x ^ !y)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03BEC-22C1-4DC9-8C51-B96686CB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95500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符号相同，且零值状态相同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8AD3DC-636E-4F58-8847-992D8021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10858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92AF4-BE65-42C4-9E16-580930A7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A7BD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A7BD5"/>
                </a:solidFill>
                <a:latin typeface="PingFang SC"/>
                <a:ea typeface="PingFang SC"/>
                <a:cs typeface="PingFang SC"/>
              </a:rPr>
              <a:t>byteSwap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6CB87-12D6-4BB1-AA14-0F569BBB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861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delta = ((x &gt;&gt; a) ^ (x &gt;&gt; b)) &amp; 255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2A07C4-B340-4CA5-9EB0-71B7047E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delta 移回两个字节位置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DB8D63-D17F-4454-B4EC-1A5FA265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10858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D9FAB-5603-459D-BC1D-622F0B23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052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A7BD5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A7BD5"/>
                </a:solidFill>
                <a:latin typeface="PingFang SC"/>
                <a:ea typeface="PingFang SC"/>
                <a:cs typeface="PingFang SC"/>
              </a:rPr>
              <a:t>reverse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6603F-5ECF-41ED-931B-DD6325BC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767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1 → 2 → 4 → 8 → 16 bit groups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4BB2DF-569D-43D4-B8FB-AEDC0F51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76700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五级掩码完成 32 位逆序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4EE20-1A24-4C89-B11E-598DD239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0858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E14E8D-5832-4242-A18F-08312329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95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1">
                <a:solidFill>
                  <a:srgbClr val="3A7BD5"/>
                </a:solidFill>
                <a:latin typeface="PingFang SC"/>
                <a:ea typeface="PingFang SC"/>
                <a:cs typeface="PingFang SC"/>
              </a:defRPr>
            </a:pPr>
            <a:r>
              <a:rPr sz="1400" b="1">
                <a:solidFill>
                  <a:srgbClr val="3A7BD5"/>
                </a:solidFill>
                <a:latin typeface="PingFang SC"/>
                <a:ea typeface="PingFang SC"/>
                <a:cs typeface="PingFang SC"/>
              </a:rPr>
              <a:t>leftBitCount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EF46AC-2104-4697-8D4C-6E7FC53D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v = ~x  +  16 / 8 / 4 / 2 /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9CB72E-CC1E-44CF-8768-685ED68C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67300"/>
            <a:ext cx="319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在取反值上查找前导零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255C1-26C7-4AF5-BAEC-BEA186FC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1B33"/>
          </a:solidFill>
          <a:ln xmlns:a="http://schemas.openxmlformats.org/drawingml/2006/main" w="9525">
            <a:solidFill>
              <a:srgbClr val="0B1B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BFAC71-8BCF-42A6-BDB4-B2011171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980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优化记录  ·  samesign 从 9 次降至 8 次  ·  reverse 使用 5 级固定交换  ·  logtwo 使用 5 级最高位查找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450EE1-7A41-4F29-8414-A4615A83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DataLab 2026  ·  匿名  ·  不公开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AB3E4F-CF38-4FBE-928C-943BFD09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92327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E5CEA2-841B-4455-9CEC-0F700EB0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04  浮点题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CFB6DC-61C0-4DA9-8098-0E4D5CA0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IEEE 754 的字段与边界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7EAC9-CAE8-48DF-8C8C-AB33D4EA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先拆字段，再处理规格化、非规格化、溢出和 NaN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E8A5E-BA3E-4332-8990-8EA78809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single precision: 32 bits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F0D7F-0CAD-4C2F-8C95-886B1E65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114300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3A7BD5"/>
          </a:solidFill>
          <a:ln xmlns:a="http://schemas.openxmlformats.org/drawingml/2006/main" w="9525">
            <a:solidFill>
              <a:srgbClr val="3A7B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80118-45FB-4E3E-8163-E3415069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sign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7EA66-B7F7-46D7-82F9-C7C47347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38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 bit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970D8-8B62-4E4F-9814-75AEA932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1432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6B8A6"/>
          </a:solidFill>
          <a:ln xmlns:a="http://schemas.openxmlformats.org/drawingml/2006/main" w="9525">
            <a:solidFill>
              <a:srgbClr val="16B8A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09378-F181-419F-B8CD-1A4723C4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2860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exponent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28D40-10E4-4550-89B7-B0D395E1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90800"/>
            <a:ext cx="2838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8 bits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1B464C-E3DD-4C88-9E55-60F67C1C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33600"/>
            <a:ext cx="6572250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32444-7261-41E5-BCC5-7CF179C5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86000"/>
            <a:ext cx="626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fraction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AE4A4-D11B-41E6-819B-2E432E9F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90800"/>
            <a:ext cx="6267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23 bits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88C6B-E460-47EE-B9D2-6813DDD7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67100"/>
            <a:ext cx="514350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EAF2FC"/>
          </a:solidFill>
          <a:ln xmlns:a="http://schemas.openxmlformats.org/drawingml/2006/main" w="9525">
            <a:solidFill>
              <a:srgbClr val="EAF2F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9FE300-90AD-4320-A5A1-0AA959AB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5760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A7BD5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A7BD5"/>
                </a:solidFill>
                <a:latin typeface="PingFang SC"/>
                <a:ea typeface="PingFang SC"/>
                <a:cs typeface="PingFang SC"/>
              </a:rPr>
              <a:t>float_i2f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61BD7-F1C5-4CED-BFC2-830183D5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整数幅值 → 规格化尾数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末 8 位执行最近偶数舍入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AAE676-9D57-4584-B895-DBAF75AE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67100"/>
            <a:ext cx="533400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E8F8F5"/>
          </a:solidFill>
          <a:ln xmlns:a="http://schemas.openxmlformats.org/drawingml/2006/main" w="9525">
            <a:solidFill>
              <a:srgbClr val="E8F8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5322ED-50A7-415F-9D91-23156E5D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floatScale2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B1F4B-A8D0-4E41-B1EC-1E01878B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6240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指数全 1 原样返回 NaN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非规格化数左移并保留符号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57E48-89A5-4AA2-BAA8-444E6C65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514350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FF3E6"/>
          </a:solidFill>
          <a:ln xmlns:a="http://schemas.openxmlformats.org/drawingml/2006/main" w="9525">
            <a:solidFill>
              <a:srgbClr val="FFF3E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297F4-25B4-4BF8-8294-998F59E1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A261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4A261"/>
                </a:solidFill>
                <a:latin typeface="PingFang SC"/>
                <a:ea typeface="PingFang SC"/>
                <a:cs typeface="PingFang SC"/>
              </a:rPr>
              <a:t>float64_f2i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2EDE9E-7E3E-4490-B3AC-C11083DA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向零截断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指数过大返回 0x80000000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8A49B7-83B0-4096-B126-2A8D9681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5334000" cy="1009650"/>
          </a:xfrm>
          <a:prstGeom xmlns:a="http://schemas.openxmlformats.org/drawingml/2006/main" prst="roundRect">
            <a:avLst>
              <a:gd name="adj" fmla="val 16981"/>
            </a:avLst>
          </a:prstGeom>
          <a:solidFill xmlns:a="http://schemas.openxmlformats.org/drawingml/2006/main">
            <a:srgbClr val="F0ECFA"/>
          </a:solidFill>
          <a:ln xmlns:a="http://schemas.openxmlformats.org/drawingml/2006/main" w="9525">
            <a:solidFill>
              <a:srgbClr val="F0ECF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21C91D-0987-4BDB-9ED3-976F8345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53000"/>
            <a:ext cx="487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655B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7655B8"/>
                </a:solidFill>
                <a:latin typeface="PingFang SC"/>
                <a:ea typeface="PingFang SC"/>
                <a:cs typeface="PingFang SC"/>
              </a:rPr>
              <a:t>floatPower2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74D277-9792-460F-9EE5-D99FFE69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5780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x &lt; -149 返回 0</a:t>
            </a:r>
          </a:p>
          <a:p xmlns:a="http://schemas.openxmlformats.org/drawingml/2006/main">
            <a:pPr algn="l">
              <a:def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-149 至 127 覆盖非规格化到规格化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509231-8301-4025-9B32-3997CB68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DataLab 2026  ·  匿名  ·  不公开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64F6DF-9B2C-4751-BD37-3F3828E9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6451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B1F0C-9D0F-4D63-B24F-43A1DDB7F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05  操作数审计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AD05D-D400-49F9-9878-10A46B57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000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02033"/>
                </a:solidFill>
                <a:latin typeface="PingFang SC"/>
                <a:ea typeface="PingFang SC"/>
                <a:cs typeface="PingFang SC"/>
              </a:rPr>
              <a:t>满分之后的优化判断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D68FF-F70C-4DDA-9D8C-28B09855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所有函数均低于规则上限；进一步压缩需要权衡可读性、移位安全与合规性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619250" y="1809750"/>
          <a:ext xmlns:a="http://schemas.openxmlformats.org/drawingml/2006/main" cx="7429500" cy="4210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143250"/>
                <a:gridCol w="1333500"/>
                <a:gridCol w="1333500"/>
                <a:gridCol w="1619250"/>
              </a:tblGrid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函数</a:t>
                      </a:r>
                    </a:p>
                  </a:txBody>
                  <a:tcPr marL="91440" marR="91440" marT="45720" marB="45720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已用</a:t>
                      </a:r>
                    </a:p>
                  </a:txBody>
                  <a:tcPr marL="91440" marR="91440" marT="45720" marB="45720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上限</a:t>
                      </a:r>
                    </a:p>
                  </a:txBody>
                  <a:tcPr marL="91440" marR="91440" marT="45720" marB="45720">
                    <a:solidFill>
                      <a:srgbClr val="0B1B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余量</a:t>
                      </a:r>
                    </a:p>
                  </a:txBody>
                  <a:tcPr marL="91440" marR="91440" marT="45720" marB="45720">
                    <a:solidFill>
                      <a:srgbClr val="0B1B33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bitAnd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bitXor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F4A26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samesign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logtwo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byteSwap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reverse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logicalShift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leftBitCount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16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float_i2f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floatScale2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float64_f2i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45</a:t>
                      </a:r>
                    </a:p>
                  </a:txBody>
                  <a:tcPr marL="91440" marR="91440" marT="45720" marB="45720"/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floatPower2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0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0203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92223-8CC3-4FF8-BDDC-486148CD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00250"/>
            <a:ext cx="219075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1B33"/>
          </a:solidFill>
          <a:ln xmlns:a="http://schemas.openxmlformats.org/drawingml/2006/main" w="9525">
            <a:solidFill>
              <a:srgbClr val="0B1B3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D8F21-14DB-4C7B-A0D2-3FBE1BA2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BE4D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BE4D4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A3EC6-FE8C-476C-B8C4-94373BC0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14625"/>
            <a:ext cx="1619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已达到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课程满分门槛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4C92C-D1BC-41E9-A2C9-C058944B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0050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samesign 已完成一次安全的代数化简。其余函数保持当前实现，避免为了少一两次操作引入未定义行为或降低可读性。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A1FC88-4815-46B0-A702-A5EE982F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DataLab 2026  ·  匿名  ·  不公开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50955-38AB-4D11-9418-3650D343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F71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598727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D783F7-3D4A-4047-8013-C2B2C953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E4D4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BE4D4"/>
                </a:solidFill>
                <a:latin typeface="PingFang SC"/>
                <a:ea typeface="PingFang SC"/>
                <a:cs typeface="PingFang SC"/>
              </a:rPr>
              <a:t>06  FINAL 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83ED6-9AB8-4176-B52A-1DDEF747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"/>
            <a:ext cx="552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交付清单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3BF3E2-EF5E-42BD-BC7E-742281C0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716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C4D3E0"/>
                </a:solidFill>
                <a:latin typeface="PingFang SC"/>
                <a:ea typeface="PingFang SC"/>
                <a:cs typeface="PingFang SC"/>
              </a:rPr>
              <a:t>代码、报告、复现证据和演示文稿已对齐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C1EEC0-1198-4673-AAB6-D4B63241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479EC-77E7-4E00-90E4-7F51E847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bits.c：12 个函数完成，官方 37 / 37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9A402-45E7-4915-8B1E-4D021C96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A43C4-EE7C-4B3B-8B44-817768BF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report/report.md：解题思路、边界和 AI 使用说明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604C4-AF69-4FF1-8192-BCED6B99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83AEA-2695-498D-AF5E-EFE69B05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report/report.pdf：已渲染检查，姓名与学号已填写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080BD-021C-4C2E-A08C-62922C38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59361-12D1-43A1-A5D0-B11BDFEE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report/test-results.txt 与 report/verify.c：可复现实验记录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579AB-468A-48E5-A52C-8D547FDC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481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B8A6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B8A6"/>
                </a:solidFill>
                <a:latin typeface="PingFang SC"/>
                <a:ea typeface="PingFang SC"/>
                <a:cs typeface="PingFang SC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A223E-BC2B-42E4-BAC6-0F9A5928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datalab2026_final.pptx：可编辑图表、表格和结构图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86C0F-0F4D-4FDB-BCF3-E389EDFA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4191000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122B4A"/>
          </a:solidFill>
          <a:ln xmlns:a="http://schemas.openxmlformats.org/drawingml/2006/main" w="9525">
            <a:solidFill>
              <a:srgbClr val="274A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6E5A7-C787-4E5A-95B2-B4E29270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BE4D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6BE4D4"/>
                </a:solidFill>
                <a:latin typeface="PingFang SC"/>
                <a:ea typeface="PingFang SC"/>
                <a:cs typeface="PingFang SC"/>
              </a:rPr>
              <a:t>复现命令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4581F1-767C-471E-AAAD-ED1036FC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8130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5EE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5EEF6"/>
                </a:solidFill>
                <a:latin typeface="PingFang SC"/>
                <a:ea typeface="PingFang SC"/>
                <a:cs typeface="PingFang SC"/>
              </a:rPr>
              <a:t>python3 test.py -V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5EE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5EEF6"/>
                </a:solidFill>
                <a:latin typeface="PingFang SC"/>
                <a:ea typeface="PingFang SC"/>
                <a:cs typeface="PingFang SC"/>
              </a:rPr>
              <a:t>clang -O2 -std=gnu99 -Wall -Wextra -Werror \</a:t>
            </a:r>
          </a:p>
          <a:p xmlns:a="http://schemas.openxmlformats.org/drawingml/2006/main">
            <a:pPr algn="l">
              <a:defRPr sz="1200" b="0">
                <a:solidFill>
                  <a:srgbClr val="E5EE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5EEF6"/>
                </a:solidFill>
                <a:latin typeface="PingFang SC"/>
                <a:ea typeface="PingFang SC"/>
                <a:cs typeface="PingFang SC"/>
              </a:rPr>
              <a:t>  -fsanitize=undefined bits.c report/verify.c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E5EEF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5EEF6"/>
                </a:solidFill>
                <a:latin typeface="PingFang SC"/>
                <a:ea typeface="PingFang SC"/>
                <a:cs typeface="PingFang SC"/>
              </a:rPr>
              <a:t>/tmp/datalab-verify-final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98133-593D-45A8-AA56-5E3ADE51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A7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6D16D2-5EA9-47EB-A1CA-DC5397AA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4D3E0"/>
                </a:solidFill>
                <a:latin typeface="PingFang SC"/>
                <a:ea typeface="PingFang SC"/>
                <a:cs typeface="PingFang SC"/>
              </a:rPr>
              <a:t>匿名  ·  不公开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9C299-9ED6-4F91-896E-E6C0BDD2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153150"/>
            <a:ext cx="609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B8C8D8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8C8D8"/>
                </a:solidFill>
                <a:latin typeface="PingFang SC"/>
                <a:ea typeface="PingFang SC"/>
                <a:cs typeface="PingFang SC"/>
              </a:rPr>
              <a:t>提交前：填写本人 fork 地址并按课程要求完成 OBE 提交与答辩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32F12-2C7F-4E19-A08E-900CBF78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8C8D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8C8D8"/>
                </a:solidFill>
                <a:latin typeface="PingFang SC"/>
                <a:ea typeface="PingFang SC"/>
                <a:cs typeface="PingFang SC"/>
              </a:rPr>
              <a:t>DataLab 2026  ·  匿名  ·  不公开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DB640-297E-4CFC-84C8-EB719434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B8C8D8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8C8D8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86511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2026-09-22T01:38:09.3060000Z</dcterms:created>
  <dcterms:modified xsi:type="dcterms:W3CDTF">2026-09-22T01:38:09.3060000Z</dcterms:modified>
</coreProperties>
</file>